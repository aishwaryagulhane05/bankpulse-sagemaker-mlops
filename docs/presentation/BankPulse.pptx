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280160" cy="7315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BankPulse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>
                <a:solidFill>
                  <a:srgbClr val="8FD3D4"/>
                </a:solidFill>
                <a:latin typeface="Calibri"/>
              </a:rPr>
              <a:t>Term deposit propensity on AWS SageMaker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End-to-end MLOps: data lake, training, registry, real-time endpoint, drift monitoring and continuous retraining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B8C4D0"/>
                </a:solidFill>
                <a:latin typeface="Calibri"/>
              </a:rPr>
              <a:t>Built and run on the AWS Academy Learner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B8C4D0"/>
                </a:solidFill>
                <a:latin typeface="Calibri"/>
              </a:rPr>
              <a:t>github.com/aishwaryagulhane05/bankpulse-sagemaker-mlops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problem: most sales calls go nowhere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60604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73152" cy="132588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0F8B8D"/>
                </a:solidFill>
                <a:latin typeface="Calibri"/>
              </a:rPr>
              <a:t>1 in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calls ends in a term deposit subscription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463040"/>
            <a:ext cx="260604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463040"/>
            <a:ext cx="73152" cy="13258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5727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4243B"/>
                </a:solidFill>
                <a:latin typeface="Calibri"/>
              </a:rPr>
              <a:t>41,188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1945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historical phone contacts, 2008–2010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463040"/>
            <a:ext cx="260604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463040"/>
            <a:ext cx="73152" cy="132588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5727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07A1F"/>
                </a:solidFill>
                <a:latin typeface="Calibri"/>
              </a:rPr>
              <a:t>+35%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1945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more subscribers found than the baseline on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0264" y="1463040"/>
            <a:ext cx="2606040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4" y="1463040"/>
            <a:ext cx="73152" cy="13258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572768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4243B"/>
                </a:solidFill>
                <a:latin typeface="Calibri"/>
              </a:rPr>
              <a:t>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19456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pre-call inputs; call duration excluded (leakage)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51206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8B8D"/>
                </a:solidFill>
                <a:latin typeface="Calibri"/>
              </a:rPr>
              <a:t>Problem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B36"/>
                </a:solidFill>
                <a:latin typeface="Calibri"/>
              </a:rPr>
              <a:t>Agents work through call lists in no particular order, so most effort goes on customers who were never going to say yes.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0F8B8D"/>
                </a:solidFill>
                <a:latin typeface="Calibri"/>
              </a:rPr>
              <a:t>Solution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B36"/>
                </a:solidFill>
                <a:latin typeface="Calibri"/>
              </a:rPr>
              <a:t>A classifier scores each customer before the call. Customers above a validated threshold are flagged “call first”; the rest are ranked by score.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035040" y="320040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they get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Campaign managers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Ranked call list, expected subscribers per cut-off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Call-centre agents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Who to call next, highest score first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Data science / MLOps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Training, registry, endpoint, drift, retraining status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Risk and compliance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B36"/>
                          </a:solidFill>
                          <a:latin typeface="Calibri"/>
                        </a:rPr>
                        <a:t>Model Card, approvals, selection rates by age band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Data, contract and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UCI Bank Marketing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41,188 contacts, 20 inputs, May 2008 – Nov 2010. Positive rate 5.6% train, 10.7% validation, 38.5% test: strong drift over time.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Time-ordered split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Oldest 70% train, next 15% validate, newest 15% test, so no future behaviour leaks into training.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Data contract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Schema, types, allowed values, ranges and 4 cross-column rules checked on every run; the forbidden duration column is dropped.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Versioned feature registry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9 features → 68 inputs. Learned values are fitted on train only and saved in feature_schema.json, so the endpoint encodes exactly like 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5029200" cy="30175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00200"/>
            <a:ext cx="45720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07A1F"/>
                </a:solidFill>
                <a:latin typeface="Calibri"/>
              </a:rPr>
              <a:t>Design decision: economic indicators off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Euribor and employment figures describe the period of the call, not the customer.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With a time-ordered split every later value is outside the training range (PSI 8–17), so trees use them as a clock.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Validation PR-AUC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243B"/>
                </a:solidFill>
                <a:latin typeface="Calibri"/>
              </a:rPr>
              <a:t>0.177 with them   →   0.229 without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7402"/>
            <a:ext cx="7498079" cy="4514716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183879" y="1371600"/>
            <a:ext cx="36576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Framework (local, tested)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Contract, split, feature registry, lineage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Data lake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Amazon S3 bank-campaign-mlops/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Train and evaluate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XGBoost 1.7-1 Training Job, Batch Transform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Govern and serve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Model Registry, Model Card, endpoint with Data Capture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Monitor and retrain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CloudWatch, EventBridge, SageMaker Pipelines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Model development and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SageMaker built-in XGBoost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binary:logistic on ml.m5.large, early stopping on validation aucpr.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Tuning on validation only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64-setting grid → max_depth 4, eta 0.05, colsample 0.5, subsample 0.8.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Threshold 0.106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Best F1 on validation, reused unchanged on test.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Approval rule: non-inferiority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Approve if test PR-AUC is within 0.01 of the baseline. Result −0.0039 → approved; the margin and its timing are disclosed.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Model Card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Intended use, Medium risk rating, evaluation results; not for credit or eligibility decisions.</a:t>
            </a:r>
          </a:p>
        </p:txBody>
      </p:sp>
      <p:pic>
        <p:nvPicPr>
          <p:cNvPr id="9" name="Picture 8" descr="03-model-registry-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09456"/>
            <a:ext cx="5669280" cy="2970608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Key results: baseline vs SageMaker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6766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Logistic baseline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SageMaker XGBoost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Validation PR-AUC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0.222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0.228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Test PR-AUC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0.471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0.467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Test F1 at validation threshold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0.306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0.369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Test recall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0.224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0.302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Test lift, top 10%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1.19×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1.24×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Subscribers found on 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6"/>
                          </a:solidFill>
                          <a:latin typeface="Calibri"/>
                        </a:rPr>
                        <a:t>533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2B36"/>
                          </a:solidFill>
                          <a:latin typeface="Calibri"/>
                        </a:rPr>
                        <a:t>718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0" y="1463040"/>
            <a:ext cx="3749039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463040"/>
            <a:ext cx="73152" cy="132588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572768"/>
            <a:ext cx="34289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07A1F"/>
                </a:solidFill>
                <a:latin typeface="Calibri"/>
              </a:rPr>
              <a:t>+35%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194560"/>
            <a:ext cx="34289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subscribers found (718 vs 533)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971800"/>
            <a:ext cx="3749039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971800"/>
            <a:ext cx="73152" cy="132588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081528"/>
            <a:ext cx="34289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0F8B8D"/>
                </a:solidFill>
                <a:latin typeface="Calibri"/>
              </a:rPr>
              <a:t>0.0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703320"/>
            <a:ext cx="34289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max score difference, endpoint vs Batch Transform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4480560"/>
            <a:ext cx="3749039" cy="1325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4480560"/>
            <a:ext cx="73152" cy="132588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4590288"/>
            <a:ext cx="34289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4243B"/>
                </a:solidFill>
                <a:latin typeface="Calibri"/>
              </a:rPr>
              <a:t>+0.16–0.24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212080"/>
            <a:ext cx="34289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B6775"/>
                </a:solidFill>
                <a:latin typeface="Calibri"/>
              </a:rPr>
              <a:t>PR-AUC gain from retraining on recent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6766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B6775"/>
                </a:solidFill>
                <a:latin typeface="Calibri"/>
              </a:rPr>
              <a:t>Both models use the same 68 inputs. The threshold is chosen on validation and the test split (newest 15%) is evaluated once.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PR-AUC is roughly tied; XGBoost wins clearly at the operating threshold, where the call list is actually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SERVING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Deployment and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7548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Real-time endpoint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Approved registry version deployed on ml.m5.large.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Data Capture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100% of requests and responses written to S3 as JSONL for monitoring.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Serving parity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encode_records() uses the saved feature schema; an integration test checks rows are byte-identical to the batch files.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Batch scoring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Batch Transform scores whole validation and test files offline.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Results UI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Streamlit app: live SageMaker status, results, monitoring, and scoring through the endpoint.</a:t>
            </a:r>
          </a:p>
        </p:txBody>
      </p:sp>
      <p:pic>
        <p:nvPicPr>
          <p:cNvPr id="9" name="Picture 8" descr="ui-score-call-first-octo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83794"/>
            <a:ext cx="6126480" cy="3221932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Monitoring: drift and fairness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5760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Max feature PSI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3.43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Alert: 17 inputs &gt; 0.2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Prediction PSI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2.95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Alert: mean 0.07 → 0.25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Age-band selection ratio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Alert: below 0.8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200400"/>
            <a:ext cx="5760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Source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The newest 200 customers captured at the endpoint, compared with the training data.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CloudWatch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Metrics under BankPulse/ModelMonitoring, a feature-drift alarm (PSI &gt; 0.2) and a dashboard.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Managed services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Model Monitor schedules and Clarify were unavailable in the lab, so the project computes the same checks itself.</a:t>
            </a:r>
          </a:p>
        </p:txBody>
      </p:sp>
      <p:pic>
        <p:nvPicPr>
          <p:cNvPr id="10" name="Picture 9" descr="ui-monitoring-drift-and-age-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46514"/>
            <a:ext cx="5120640" cy="2696492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Continuous training on recent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1064240" cy="1143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36192"/>
            <a:ext cx="1417320" cy="8229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New month in S3 · schedule · drift alarm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1536192"/>
            <a:ext cx="1417320" cy="8229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EventBridge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9624" y="1536192"/>
            <a:ext cx="1417320" cy="8229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Prepare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1536" y="1536192"/>
            <a:ext cx="1417320" cy="8229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3448" y="1536192"/>
            <a:ext cx="1417320" cy="8229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Evaluate
challenger vs champion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36192"/>
            <a:ext cx="1417320" cy="8229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Register
pending approval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77272" y="1536192"/>
            <a:ext cx="1417320" cy="8229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Human approval
blue/green deploy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788920"/>
          <a:ext cx="6675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Champion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Challenger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Registered</a:t>
                      </a:r>
                    </a:p>
                  </a:txBody>
                  <a:tcPr marL="73152" marR="73152">
                    <a:solidFill>
                      <a:srgbClr val="14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Month 24 (manual)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0.588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0.751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version 2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Month 25 (S3 upload)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0.489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version 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capped_campaign v2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0.489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version 4</a:t>
                      </a:r>
                    </a:p>
                  </a:txBody>
                  <a:tcPr marL="73152" marR="73152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Month 26 (S3 upload)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0.474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B36"/>
                          </a:solidFill>
                          <a:latin typeface="Calibri"/>
                        </a:rPr>
                        <a:t>0.660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6"/>
                          </a:solidFill>
                          <a:latin typeface="Calibri"/>
                        </a:rPr>
                        <a:t>version 5 (approved)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480060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B6775"/>
                </a:solidFill>
                <a:latin typeface="Calibri"/>
              </a:rPr>
              <a:t>Holdout PR-AUC on the newest two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743200"/>
            <a:ext cx="41148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Rolling window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Train on the latest 12 months, validate on 2, hold out the newest 2.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Safe ingest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Contract-checked, SHA-256 manifest, duplicates skipped, nothing deleted.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F8B8D"/>
                </a:solidFill>
                <a:latin typeface="Calibri"/>
              </a:rPr>
              <a:t>Safe deploy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10% canary for 10 minutes with automatic rollback; the endpoint keeps serving v1 until a deliberate deploy.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8FD3D4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Limitations, responsible use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5B6775"/>
                </a:solidFill>
                <a:latin typeface="Calibri"/>
              </a:rPr>
              <a:t>BankPulse  ·  AWS SageMaker MLOps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Drift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Test subscription rate (38%) is about 7× training (6%); scores need retraining on recent data.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Modest ranking quality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Test PR-AUC 0.47 against a 0.38 base rate: it prioritises calls, it does not predict outcomes.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Month dominates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The same customer scores 41% in October and 14% in June.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F8B8D"/>
                </a:solidFill>
                <a:latin typeface="Calibri"/>
              </a:rPr>
              <a:t>Intended use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Ranking marketing call lists reviewed by staff. Not for credit, lending, pricing or eligibility. Age-band ratio below 0.8 triggers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212080" cy="38404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7A1F"/>
                </a:solidFill>
                <a:latin typeface="Calibri"/>
              </a:rPr>
              <a:t>Next steps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•  Wire registry approvals to the blue/green deploy (EventBridge → Lambda)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•  Validate business rules in the UI scoring form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•  Load the deployed version’s feature schema from the endpoint tag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•  Re-run monitoring on the new training window after redeploying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4243B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